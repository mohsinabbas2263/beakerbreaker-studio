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57" r:id="rId4"/>
    <p:sldId id="258" r:id="rId5"/>
    <p:sldId id="265" r:id="rId6"/>
    <p:sldId id="270" r:id="rId7"/>
    <p:sldId id="269" r:id="rId8"/>
    <p:sldId id="259" r:id="rId9"/>
    <p:sldId id="260" r:id="rId10"/>
    <p:sldId id="272" r:id="rId11"/>
    <p:sldId id="267" r:id="rId12"/>
    <p:sldId id="268" r:id="rId13"/>
    <p:sldId id="26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BC334B-F00D-4CFC-AEF7-88B4716A5601}">
          <p14:sldIdLst>
            <p14:sldId id="256"/>
          </p14:sldIdLst>
        </p14:section>
        <p14:section name="Untitled Section" id="{430735AD-A8DD-4A87-9B5C-87D8193AC4B8}">
          <p14:sldIdLst>
            <p14:sldId id="271"/>
            <p14:sldId id="257"/>
            <p14:sldId id="258"/>
            <p14:sldId id="265"/>
            <p14:sldId id="270"/>
            <p14:sldId id="269"/>
            <p14:sldId id="259"/>
            <p14:sldId id="260"/>
            <p14:sldId id="272"/>
            <p14:sldId id="267"/>
            <p14:sldId id="268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828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7D84-4FB5-573F-8997-F24EB93F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7B687-60FE-BA54-8779-2DC3525AF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EFA40-F1FB-3403-C047-DFE5BDE61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E4BDB-80D7-B3AB-268D-3DDA061C85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73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40530-6E8E-D16A-516A-43822319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E4AB7-BE35-9B74-501A-B7651D88C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E52375-9E26-9F68-9098-4E40F84F5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6F295-0CE7-B38E-218C-6BCC3EEA85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11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C8F7E4"/>
          </a:solidFill>
          <a:ln w="12700">
            <a:solidFill>
              <a:srgbClr val="C8F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365760" y="3474720"/>
            <a:ext cx="1645920" cy="1645920"/>
          </a:xfrm>
          <a:prstGeom prst="ellipse">
            <a:avLst/>
          </a:prstGeom>
          <a:solidFill>
            <a:srgbClr val="FBBF24">
              <a:alpha val="14000"/>
            </a:srgbClr>
          </a:solidFill>
          <a:ln w="12700">
            <a:solidFill>
              <a:srgbClr val="FBBF2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4114800"/>
            <a:ext cx="822960" cy="82296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19095" y="228597"/>
            <a:ext cx="1818217" cy="387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2920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FFFFFF"/>
                </a:solidFill>
              </a:rPr>
              <a:t>FINAL YEAR PROJECT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08007" y="1125675"/>
            <a:ext cx="602541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Beaker Breakers Studio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5120640" y="658368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457200" y="198184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Virtual Scientific Exploration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7200" y="2393322"/>
            <a:ext cx="32004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48640" y="2926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/>
              <a:t>						</a:t>
            </a:r>
          </a:p>
        </p:txBody>
      </p:sp>
      <p:sp>
        <p:nvSpPr>
          <p:cNvPr id="19" name="Text 15"/>
          <p:cNvSpPr/>
          <p:nvPr/>
        </p:nvSpPr>
        <p:spPr>
          <a:xfrm>
            <a:off x="548640" y="3611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5240" y="4773168"/>
            <a:ext cx="91440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Beaker Breakers Studio  •  Virtual Lab Platform  •  FYP 2026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6CA7A6-46F7-C053-4C80-97A6A9069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3403633"/>
            <a:ext cx="1376613" cy="13766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B14EC54-B92B-2C5A-EBE5-F86D62AEB5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29" t="11330" r="21539" b="13290"/>
          <a:stretch>
            <a:fillRect/>
          </a:stretch>
        </p:blipFill>
        <p:spPr>
          <a:xfrm>
            <a:off x="6054365" y="529327"/>
            <a:ext cx="2883895" cy="3771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167A-AB42-ABCA-BF89-EC0779AAE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13D344-BE6A-4C53-D3DA-E150DF433934}"/>
              </a:ext>
            </a:extLst>
          </p:cNvPr>
          <p:cNvSpPr>
            <a:spLocks/>
          </p:cNvSpPr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AAFA04-4739-886A-FB25-40CD5735D466}"/>
              </a:ext>
            </a:extLst>
          </p:cNvPr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C8F7E4"/>
          </a:solidFill>
          <a:ln w="12700">
            <a:solidFill>
              <a:srgbClr val="C8F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07BDC83-E836-FD8C-F984-81B4406E5A28}"/>
              </a:ext>
            </a:extLst>
          </p:cNvPr>
          <p:cNvSpPr/>
          <p:nvPr/>
        </p:nvSpPr>
        <p:spPr>
          <a:xfrm>
            <a:off x="7132320" y="-274320"/>
            <a:ext cx="2011680" cy="201168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3772029-BA12-8855-07B4-5CC81AAD4A59}"/>
              </a:ext>
            </a:extLst>
          </p:cNvPr>
          <p:cNvSpPr/>
          <p:nvPr/>
        </p:nvSpPr>
        <p:spPr>
          <a:xfrm>
            <a:off x="7772400" y="640080"/>
            <a:ext cx="914400" cy="914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5462907-2A26-84B6-3F86-B00B9536FE47}"/>
              </a:ext>
            </a:extLst>
          </p:cNvPr>
          <p:cNvSpPr/>
          <p:nvPr/>
        </p:nvSpPr>
        <p:spPr>
          <a:xfrm>
            <a:off x="-365760" y="3474720"/>
            <a:ext cx="1645920" cy="1645920"/>
          </a:xfrm>
          <a:prstGeom prst="ellipse">
            <a:avLst/>
          </a:prstGeom>
          <a:solidFill>
            <a:srgbClr val="FBBF24">
              <a:alpha val="14000"/>
            </a:srgbClr>
          </a:solidFill>
          <a:ln w="12700">
            <a:solidFill>
              <a:srgbClr val="FBBF2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33C4DE-2F9B-1B91-F435-F69F729D7C84}"/>
              </a:ext>
            </a:extLst>
          </p:cNvPr>
          <p:cNvSpPr/>
          <p:nvPr/>
        </p:nvSpPr>
        <p:spPr>
          <a:xfrm>
            <a:off x="182880" y="4114800"/>
            <a:ext cx="822960" cy="82296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6F23BFBC-3A07-AF07-892E-23EA8A95F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920" y="457200"/>
            <a:ext cx="2194560" cy="2194560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96CDEDB8-20A7-2B35-12AA-D07CBEA31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801" y="1714500"/>
            <a:ext cx="1097280" cy="1097280"/>
          </a:xfrm>
          <a:prstGeom prst="rect">
            <a:avLst/>
          </a:prstGeom>
        </p:spPr>
      </p:pic>
      <p:sp>
        <p:nvSpPr>
          <p:cNvPr id="10" name="Shape 6">
            <a:extLst>
              <a:ext uri="{FF2B5EF4-FFF2-40B4-BE49-F238E27FC236}">
                <a16:creationId xmlns:a16="http://schemas.microsoft.com/office/drawing/2014/main" id="{49B58248-9707-6CB0-40B2-12167E52E754}"/>
              </a:ext>
            </a:extLst>
          </p:cNvPr>
          <p:cNvSpPr/>
          <p:nvPr/>
        </p:nvSpPr>
        <p:spPr>
          <a:xfrm>
            <a:off x="502920" y="29260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549EA63-258A-90BA-8322-2E378DA8C3EB}"/>
              </a:ext>
            </a:extLst>
          </p:cNvPr>
          <p:cNvSpPr/>
          <p:nvPr/>
        </p:nvSpPr>
        <p:spPr>
          <a:xfrm>
            <a:off x="502920" y="292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FINAL YEAR PROJECT</a:t>
            </a:r>
            <a:endParaRPr lang="en-US" sz="7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7BF7BC7-E4C9-0F20-F8B0-B73036E067E7}"/>
              </a:ext>
            </a:extLst>
          </p:cNvPr>
          <p:cNvSpPr/>
          <p:nvPr/>
        </p:nvSpPr>
        <p:spPr>
          <a:xfrm flipH="1">
            <a:off x="5852160" y="658368"/>
            <a:ext cx="7686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0000"/>
                </a:solidFill>
              </a:rPr>
              <a:t>🧪</a:t>
            </a:r>
            <a:endParaRPr lang="en-US" sz="3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1519CD3-D5C7-2E08-3585-B4332C62A21D}"/>
              </a:ext>
            </a:extLst>
          </p:cNvPr>
          <p:cNvSpPr/>
          <p:nvPr/>
        </p:nvSpPr>
        <p:spPr>
          <a:xfrm>
            <a:off x="487680" y="1822383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Virtual Scientific Exploration</a:t>
            </a:r>
            <a:endParaRPr lang="en-US" sz="16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D7D3E457-9F1A-04DA-1C64-245F2DC627FD}"/>
              </a:ext>
            </a:extLst>
          </p:cNvPr>
          <p:cNvSpPr/>
          <p:nvPr/>
        </p:nvSpPr>
        <p:spPr>
          <a:xfrm>
            <a:off x="502920" y="2240280"/>
            <a:ext cx="32004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576CEB24-158F-DE4F-718D-37E94C952A72}"/>
              </a:ext>
            </a:extLst>
          </p:cNvPr>
          <p:cNvSpPr/>
          <p:nvPr/>
        </p:nvSpPr>
        <p:spPr>
          <a:xfrm>
            <a:off x="365760" y="2743200"/>
            <a:ext cx="53035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6886493-5379-9D6E-8103-21898604E260}"/>
              </a:ext>
            </a:extLst>
          </p:cNvPr>
          <p:cNvSpPr/>
          <p:nvPr/>
        </p:nvSpPr>
        <p:spPr>
          <a:xfrm>
            <a:off x="548640" y="2926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75569"/>
                </a:solidFill>
              </a:rPr>
              <a:t>Supervisor : </a:t>
            </a:r>
            <a:r>
              <a:rPr lang="en-US" sz="1300" b="1" dirty="0">
                <a:solidFill>
                  <a:srgbClr val="1E3A5F"/>
                </a:solidFill>
              </a:rPr>
              <a:t>Ms. Mehk Fatima</a:t>
            </a:r>
            <a:endParaRPr lang="en-US" sz="13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39C8F32-25F7-6A96-6172-4AEF83D82C9A}"/>
              </a:ext>
            </a:extLst>
          </p:cNvPr>
          <p:cNvSpPr/>
          <p:nvPr/>
        </p:nvSpPr>
        <p:spPr>
          <a:xfrm>
            <a:off x="548640" y="3320715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94A3B8"/>
                </a:solidFill>
              </a:rPr>
              <a:t>Co-supervisor : </a:t>
            </a:r>
            <a:r>
              <a:rPr lang="en-US" sz="1300" b="1" dirty="0">
                <a:solidFill>
                  <a:srgbClr val="475569"/>
                </a:solidFill>
              </a:rPr>
              <a:t>Dr. Waqas Ahmed</a:t>
            </a:r>
          </a:p>
          <a:p>
            <a:endParaRPr lang="en-US" sz="1200" b="1" dirty="0">
              <a:solidFill>
                <a:srgbClr val="1E3A5F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Department of Computer Science  •  </a:t>
            </a:r>
            <a:r>
              <a:rPr lang="en-US" sz="1100" dirty="0">
                <a:solidFill>
                  <a:srgbClr val="475569"/>
                </a:solidFill>
              </a:rPr>
              <a:t>FYP Presentation 2026</a:t>
            </a:r>
            <a:endParaRPr lang="en-US" sz="11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6399E1E-6152-33D3-E02B-4141434CEC1B}"/>
              </a:ext>
            </a:extLst>
          </p:cNvPr>
          <p:cNvSpPr/>
          <p:nvPr/>
        </p:nvSpPr>
        <p:spPr>
          <a:xfrm>
            <a:off x="548640" y="3611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D21B5D1C-1988-49A5-A265-BE5B13572E23}"/>
              </a:ext>
            </a:extLst>
          </p:cNvPr>
          <p:cNvSpPr/>
          <p:nvPr/>
        </p:nvSpPr>
        <p:spPr>
          <a:xfrm>
            <a:off x="15240" y="4773168"/>
            <a:ext cx="91440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A9766B3-118D-1340-3104-C67BA43609B0}"/>
              </a:ext>
            </a:extLst>
          </p:cNvPr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Beaker Breakers Studio  •  Virtual Lab Platform  •  FYP 2026</a:t>
            </a:r>
            <a:endParaRPr lang="en-US" sz="9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CF2A045-81CE-E3EE-D7EC-47B4BCACC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37273"/>
              </p:ext>
            </p:extLst>
          </p:nvPr>
        </p:nvGraphicFramePr>
        <p:xfrm>
          <a:off x="518160" y="691266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36512557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206490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Syed Mohsin Abbas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Rabail Mehboob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420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BSSE 012313006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BSCS 012313003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450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SE 7</a:t>
                      </a:r>
                      <a:r>
                        <a:rPr lang="en-US" baseline="30000" dirty="0"/>
                        <a:t>th</a:t>
                      </a:r>
                      <a:endParaRPr lang="en-PK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 7</a:t>
                      </a:r>
                      <a:r>
                        <a:rPr lang="en-US" baseline="30000" dirty="0"/>
                        <a:t>th</a:t>
                      </a:r>
                      <a:endParaRPr lang="en-PK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381504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16ACD9B-58AF-2830-BDAA-AEC13F6AD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1820" y="3703320"/>
            <a:ext cx="1097280" cy="10972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4BFB800-FAA3-3E38-58D8-FA2F21A8515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829" t="11330" r="21539" b="13290"/>
          <a:stretch>
            <a:fillRect/>
          </a:stretch>
        </p:blipFill>
        <p:spPr>
          <a:xfrm>
            <a:off x="8138160" y="3572930"/>
            <a:ext cx="949921" cy="115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93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82880" y="91440"/>
            <a:ext cx="2011680" cy="201168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3200400"/>
            <a:ext cx="1280160" cy="128016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371600"/>
            <a:ext cx="1463040" cy="14630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08960"/>
            <a:ext cx="822960" cy="82296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200400"/>
            <a:ext cx="822960" cy="8229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3716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2563EB"/>
                </a:solidFill>
              </a:rPr>
              <a:t>PROJECT VISION</a:t>
            </a:r>
            <a:endParaRPr lang="en-US" sz="800" dirty="0"/>
          </a:p>
        </p:txBody>
      </p:sp>
      <p:sp>
        <p:nvSpPr>
          <p:cNvPr id="10" name="Text 4"/>
          <p:cNvSpPr/>
          <p:nvPr/>
        </p:nvSpPr>
        <p:spPr>
          <a:xfrm>
            <a:off x="137160" y="4407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INTRODUCTION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3337560" y="20116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/>
          <p:nvPr/>
        </p:nvSpPr>
        <p:spPr>
          <a:xfrm>
            <a:off x="33375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ABOUT THE PROJECT</a:t>
            </a:r>
            <a:endParaRPr lang="en-US" sz="700" dirty="0"/>
          </a:p>
        </p:txBody>
      </p:sp>
      <p:sp>
        <p:nvSpPr>
          <p:cNvPr id="13" name="Text 7"/>
          <p:cNvSpPr/>
          <p:nvPr/>
        </p:nvSpPr>
        <p:spPr>
          <a:xfrm>
            <a:off x="3337560" y="5451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Science Education</a:t>
            </a:r>
            <a:endParaRPr lang="en-US" sz="2200" dirty="0"/>
          </a:p>
        </p:txBody>
      </p:sp>
      <p:sp>
        <p:nvSpPr>
          <p:cNvPr id="14" name="Shape 8"/>
          <p:cNvSpPr/>
          <p:nvPr/>
        </p:nvSpPr>
        <p:spPr>
          <a:xfrm>
            <a:off x="3337560" y="1188720"/>
            <a:ext cx="36576" cy="3200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3520440" y="1273127"/>
            <a:ext cx="5257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3657600" y="13828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4160520" y="1364567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Digital Studio Platform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160520" y="1638887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 fully interactive, browser-based scientific studio designed for safe and engaging virtual experimentation.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520440" y="2352119"/>
            <a:ext cx="5257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3657600" y="246184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4160520" y="2443559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Our Mission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160520" y="2717879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Empower students to 'break' experiments virtually — learning through failure without real-world risk, cost, or consequence.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520440" y="3431111"/>
            <a:ext cx="5257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3657600" y="354083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4160520" y="3522551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Accessibility First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160520" y="3796871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Available to any student with internet access — breaking the barrier of expensive lab equipment and limited seats.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PROBLEM STATEMENT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Cost &amp; Accessibility Challenges</a:t>
            </a:r>
            <a:endParaRPr lang="en-US" sz="2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7432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325880"/>
            <a:ext cx="4114800" cy="150876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9768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⚗️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78408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Chemical Hazards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9768" y="180136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Traditional labs expose students to dangerous chemicals, fire, and injury risk — especially in high school and undergraduate settings.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1325880"/>
            <a:ext cx="4114800" cy="1508760"/>
          </a:xfrm>
          <a:prstGeom prst="rect">
            <a:avLst/>
          </a:prstGeom>
          <a:solidFill>
            <a:srgbClr val="FEF9C3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56048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504688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High Material Costs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56048" y="180136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Physical reagents, glassware, and equipment are expensive. Budget constraints limit the number of trials students can perform.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0040" y="3017520"/>
            <a:ext cx="4114800" cy="1508760"/>
          </a:xfrm>
          <a:prstGeom prst="rect">
            <a:avLst/>
          </a:prstGeom>
          <a:solidFill>
            <a:srgbClr val="E0F2FE"/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29768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78408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Limited Repetition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9768" y="349300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Once an experiment fails, materials are gone. Students rarely get a second chance — slowing down comprehension and mastery.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46320" y="3017520"/>
            <a:ext cx="4114800" cy="1508760"/>
          </a:xfrm>
          <a:prstGeom prst="rect">
            <a:avLst/>
          </a:prstGeom>
          <a:solidFill>
            <a:srgbClr val="F0FDF4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56048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504688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Access Inequality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56048" y="349300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Schools in under-resourced regions often lack proper labs entirely, creating an educational gap that leaves students behind.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LITERATURE REVIEW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Systems &amp; Key Gaps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Existing platforms reviewed and their key limitations: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6052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Labster (2012)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4160520" cy="126187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🎯  Target: University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✗  No gamification, no AR, no dedicated school portal. Expensive institutional subscription.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298448"/>
            <a:ext cx="4160520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2984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PhET (2002)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773936"/>
            <a:ext cx="4160520" cy="1261872"/>
          </a:xfrm>
          <a:prstGeom prst="rect">
            <a:avLst/>
          </a:prstGeom>
          <a:solidFill>
            <a:srgbClr val="FEF9C3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🎯  Target: K-12 + Uni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17627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✗  No AI guidance, no safety certification, no performance tracking or teacher dashboard.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41605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PraxiLabs (2017)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584448"/>
            <a:ext cx="4160520" cy="1261872"/>
          </a:xfrm>
          <a:prstGeom prst="rect">
            <a:avLst/>
          </a:prstGeom>
          <a:solidFill>
            <a:srgbClr val="C8F7E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🎯  Target: College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9867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✗  No game mode, no AR, no readiness prediction. Biology &amp; physics focus — not chemistry-only.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3108960"/>
            <a:ext cx="41605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1089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OLabs (2012)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3584448"/>
            <a:ext cx="4160520" cy="126187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🎯  Target: Class 9–12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9867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✗  No AI, no gamification, no digital safety certificate. Limited to 46 chemistry experiments.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365760"/>
            <a:ext cx="2011680" cy="20116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CONTRIBUTION &amp; NOVELTY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Contribution &amp; Novelty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0607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</a:rPr>
              <a:t>What makes Beaker Breakers Studio unique — </a:t>
            </a:r>
            <a:r>
              <a:rPr lang="en-US" sz="1200" b="1" i="1" dirty="0">
                <a:solidFill>
                  <a:srgbClr val="0D9488"/>
                </a:solidFill>
              </a:rPr>
              <a:t>features NO existing platform offers together</a:t>
            </a:r>
            <a:r>
              <a:rPr lang="en-US" sz="1200" i="1" dirty="0">
                <a:solidFill>
                  <a:srgbClr val="0D9488"/>
                </a:solidFill>
              </a:rPr>
              <a:t>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2788920" cy="1627632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1389888"/>
            <a:ext cx="2788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" y="1499616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" y="1499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1527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AR Storytelling Mode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" y="216712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3D chemistry in student's real room via smartphone camera — no special hardware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72968" y="1389888"/>
            <a:ext cx="2788920" cy="1627632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72968" y="1389888"/>
            <a:ext cx="27889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82696" y="1499616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82696" y="1499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50208" y="1527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Real-Time AI Guidance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82696" y="216712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Real time AI guidance on each step, detects errors instantly &amp; explains concepts naturally.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17336" y="1389888"/>
            <a:ext cx="2788920" cy="1627632"/>
          </a:xfrm>
          <a:prstGeom prst="rect">
            <a:avLst/>
          </a:prstGeom>
          <a:solidFill>
            <a:srgbClr val="FFF9C4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17336" y="1389888"/>
            <a:ext cx="278892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27064" y="1499616"/>
            <a:ext cx="594360" cy="5943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27064" y="1499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🦁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94576" y="1527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4-Tier Safety Certification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27064" y="216712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Interactive training + digital certificate issued before any experiment is unlocked.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3200400"/>
            <a:ext cx="2788920" cy="1627632"/>
          </a:xfrm>
          <a:prstGeom prst="rect">
            <a:avLst/>
          </a:prstGeom>
          <a:solidFill>
            <a:srgbClr val="C8F7E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28600" y="320040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8328" y="3310128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🐸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05840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6-Dimension AI Scoring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8328" y="3977640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Procedural Accuracy, Safety, Reagent Use, Time, Conceptual Understanding &amp; Error Recovery.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72968" y="3200400"/>
            <a:ext cx="2788920" cy="1627632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172968" y="3200400"/>
            <a:ext cx="2788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82696" y="3310128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82696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🦊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950208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AI Readiness Predictor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82696" y="3977640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Teachers get AI reports: Not Ready / Approaching Readiness / Ready for real lab.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17336" y="3200400"/>
            <a:ext cx="2788920" cy="1627632"/>
          </a:xfrm>
          <a:prstGeom prst="rect">
            <a:avLst/>
          </a:prstGeom>
          <a:solidFill>
            <a:srgbClr val="FFF0F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17336" y="3200400"/>
            <a:ext cx="278892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27064" y="3310128"/>
            <a:ext cx="594360" cy="5943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27064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🦄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894576" y="3337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</a:rPr>
              <a:t>Full Gamification Engine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227064" y="3977640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XP, 60+ badges, 8 rank levels, class leaderboards, weekly missions &amp; streak tracking.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FEATURE COMPARISON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Beaker Breakers vs Existing Platforms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</a:rPr>
              <a:t>Beaker Breakers Studio vs Existing Platforms</a:t>
            </a:r>
            <a:endParaRPr lang="en-US" sz="1100" b="1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286000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097280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Labster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1234440"/>
            <a:ext cx="1097280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1097280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PraxiLabs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52160" y="1234440"/>
            <a:ext cx="1097280" cy="347472"/>
          </a:xfrm>
          <a:prstGeom prst="rect">
            <a:avLst/>
          </a:prstGeom>
          <a:solidFill>
            <a:srgbClr val="2D3748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OLabs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1234440"/>
            <a:ext cx="15544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1234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🧪 Beaker Breakers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581912"/>
            <a:ext cx="22860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1581912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Target Level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1581912"/>
            <a:ext cx="109728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0" y="158191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University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0" y="1581912"/>
            <a:ext cx="109728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0" y="158191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K-12+Uni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54880" y="1581912"/>
            <a:ext cx="109728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158191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College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852160" y="1581912"/>
            <a:ext cx="109728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52160" y="158191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Class 9–12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49440" y="1581912"/>
            <a:ext cx="155448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49440" y="1581912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Secondary 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011680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201168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Game Mode (Levels)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2011680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60320" y="201168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0" y="2011680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0" y="201168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2011680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201168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52160" y="2011680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52160" y="201168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949440" y="2011680"/>
            <a:ext cx="155448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49440" y="201168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74320" y="2441448"/>
            <a:ext cx="22860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2441448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AR Mode (Smartphone)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0" y="2441448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560320" y="244144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3657600" y="2441448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0" y="244144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754880" y="2441448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54880" y="244144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852160" y="2441448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852160" y="244144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949440" y="2441448"/>
            <a:ext cx="155448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949440" y="2441448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74320" y="2871216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65760" y="287121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Real-Time AI Guidance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560320" y="2871216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560320" y="2871216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657600" y="2871216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657600" y="2871216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754880" y="2871216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54880" y="2871216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852160" y="2871216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52160" y="2871216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949440" y="2871216"/>
            <a:ext cx="155448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949440" y="287121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✓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74320" y="3300984"/>
            <a:ext cx="22860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65760" y="3300984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4-Tier Safety Certificate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560320" y="3300984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560320" y="3300984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3657600" y="3300984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657600" y="3300984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4754880" y="3300984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754880" y="3300984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5852160" y="3300984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852160" y="3300984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6949440" y="3300984"/>
            <a:ext cx="155448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949440" y="3300984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✓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74320" y="3730752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65760" y="3730752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AI Readiness Predictor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560320" y="3730752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560320" y="373075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3657600" y="3730752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3657600" y="373075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4754880" y="3730752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754880" y="373075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5852160" y="3730752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5852160" y="373075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949440" y="3730752"/>
            <a:ext cx="155448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949440" y="3730752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✓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274320" y="4160520"/>
            <a:ext cx="2286000" cy="429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65760" y="416052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XP / Badges / Leaderboard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560320" y="4160520"/>
            <a:ext cx="1097280" cy="429768"/>
          </a:xfrm>
          <a:prstGeom prst="rect">
            <a:avLst/>
          </a:prstGeom>
          <a:solidFill>
            <a:srgbClr val="FEFC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560320" y="416052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~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3657600" y="4160520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657600" y="416052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4754880" y="4160520"/>
            <a:ext cx="1097280" cy="429768"/>
          </a:xfrm>
          <a:prstGeom prst="rect">
            <a:avLst/>
          </a:prstGeom>
          <a:solidFill>
            <a:srgbClr val="FEFC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754880" y="416052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~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5852160" y="4160520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5852160" y="416052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6949440" y="4160520"/>
            <a:ext cx="155448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6949440" y="416052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✓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274320" y="4590288"/>
            <a:ext cx="22860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365760" y="4590288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Dedicated School Portal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560320" y="4590288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2560320" y="459028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3657600" y="4590288"/>
            <a:ext cx="1097280" cy="429768"/>
          </a:xfrm>
          <a:prstGeom prst="rect">
            <a:avLst/>
          </a:prstGeom>
          <a:solidFill>
            <a:srgbClr val="FFF0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657600" y="459028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✗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4754880" y="4590288"/>
            <a:ext cx="1097280" cy="429768"/>
          </a:xfrm>
          <a:prstGeom prst="rect">
            <a:avLst/>
          </a:prstGeom>
          <a:solidFill>
            <a:srgbClr val="FEFC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754880" y="459028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~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5852160" y="4590288"/>
            <a:ext cx="1097280" cy="429768"/>
          </a:xfrm>
          <a:prstGeom prst="rect">
            <a:avLst/>
          </a:prstGeom>
          <a:solidFill>
            <a:srgbClr val="FEFCE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852160" y="459028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~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6949440" y="4590288"/>
            <a:ext cx="155448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949440" y="4590288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✓</a:t>
            </a:r>
            <a:endParaRPr lang="en-US" sz="1300" dirty="0"/>
          </a:p>
        </p:txBody>
      </p:sp>
      <p:sp>
        <p:nvSpPr>
          <p:cNvPr id="115" name="Text 113"/>
          <p:cNvSpPr/>
          <p:nvPr/>
        </p:nvSpPr>
        <p:spPr>
          <a:xfrm>
            <a:off x="5029200" y="49560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✓ = Offered   ✗ = Not available   ~ = Partial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274320"/>
            <a:ext cx="1463040" cy="146304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0" y="457200"/>
            <a:ext cx="731520" cy="7315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🧪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73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38BDF8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40233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Beaker Breakers Ecosystem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955280" y="45720"/>
            <a:ext cx="1005840" cy="1005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82880" y="1487659"/>
            <a:ext cx="2103120" cy="3200400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82880" y="1487659"/>
            <a:ext cx="21031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167053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652251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4320" y="2264899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Home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274320" y="2639803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74320" y="2639803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Dashboard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274320" y="2914123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Centralised overview of your progress, recent experiments, notifications, and personalised study recommendations.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423160" y="1487659"/>
            <a:ext cx="2103120" cy="3200400"/>
          </a:xfrm>
          <a:prstGeom prst="rect">
            <a:avLst/>
          </a:prstGeom>
          <a:solidFill>
            <a:srgbClr val="C8F7E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423160" y="1487659"/>
            <a:ext cx="21031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2514600" y="167053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652251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514600" y="2264899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Labs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2514600" y="2639803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2514600" y="2639803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Experiments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2514600" y="2914123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</a:rPr>
              <a:t>Interactive 3D Chemistry experiments with step-by-step guided trials.</a:t>
            </a:r>
          </a:p>
        </p:txBody>
      </p:sp>
      <p:sp>
        <p:nvSpPr>
          <p:cNvPr id="26" name="Shape 21"/>
          <p:cNvSpPr/>
          <p:nvPr/>
        </p:nvSpPr>
        <p:spPr>
          <a:xfrm>
            <a:off x="4663440" y="1487659"/>
            <a:ext cx="2103120" cy="3200400"/>
          </a:xfrm>
          <a:prstGeom prst="rect">
            <a:avLst/>
          </a:prstGeom>
          <a:solidFill>
            <a:srgbClr val="FFF9C4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663440" y="1487659"/>
            <a:ext cx="210312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754880" y="167053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652251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54880" y="2264899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Safety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4754880" y="2639803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754880" y="2639803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Certification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4754880" y="2914123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Gamified safety training with quizzes, simulations, and awarded digital certifications upon successful completion.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903720" y="1487659"/>
            <a:ext cx="2103120" cy="32004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6903720" y="1487659"/>
            <a:ext cx="21031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6995160" y="1670539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1652251"/>
            <a:ext cx="502920" cy="5029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995160" y="2264899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Leaderboard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995160" y="2639803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6995160" y="2639803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Competition</a:t>
            </a:r>
            <a:endParaRPr lang="en-US" sz="750" dirty="0"/>
          </a:p>
        </p:txBody>
      </p:sp>
      <p:sp>
        <p:nvSpPr>
          <p:cNvPr id="41" name="Text 34"/>
          <p:cNvSpPr/>
          <p:nvPr/>
        </p:nvSpPr>
        <p:spPr>
          <a:xfrm>
            <a:off x="6995160" y="2914123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Real-time ranking system that fosters healthy competition and motivates students through visible academic progress.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C8F7E4"/>
          </a:solidFill>
          <a:ln w="12700">
            <a:solidFill>
              <a:srgbClr val="C8F7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3474720"/>
            <a:ext cx="2011680" cy="20116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91440"/>
            <a:ext cx="1371600" cy="1371600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532120" y="594360"/>
            <a:ext cx="3611880" cy="389077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  <a:effectLst>
            <a:outerShdw blurRad="2032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DESIGN PHILOSOPHY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" y="53035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Principles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320040" y="1261872"/>
            <a:ext cx="5074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1560" y="1353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Minimalist &amp; Clean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1645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Clutter-free layout with purposeful whitespace. Every element earns its place — no decorative noise.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157984"/>
            <a:ext cx="5074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💎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51560" y="22494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Premium Aesthetic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2542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Soft, modern, and Instagram-ready look. Uses a carefully curated color palette that feels fresh and approachable.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054096"/>
            <a:ext cx="5074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51560" y="31455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Intuitive Navigation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34381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Taskbar-driven transitions between modules. Users can switch contexts in one tap with zero learning curve.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950208"/>
            <a:ext cx="5074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♿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51560" y="4041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Inclusive by Design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51560" y="433425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High contrast ratios, legible font sizes, and keyboard-accessible interactions for diverse user needs.</a:t>
            </a:r>
            <a:endParaRPr lang="en-US" sz="11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CEC5180-8AAA-2042-FAC9-68083A1F9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765" y="952119"/>
            <a:ext cx="3448590" cy="32392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BF708-5605-06FC-EC49-30BB37263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A8A115-6B39-0DF3-CA6A-23EEF5D019BC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3FA7D6-319B-5C3E-B0F0-AAFAF1E5ECC1}"/>
              </a:ext>
            </a:extLst>
          </p:cNvPr>
          <p:cNvSpPr/>
          <p:nvPr/>
        </p:nvSpPr>
        <p:spPr>
          <a:xfrm>
            <a:off x="365760" y="20116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8BE4AE-74B5-FAF5-34FB-EAF44988EC0E}"/>
              </a:ext>
            </a:extLst>
          </p:cNvPr>
          <p:cNvSpPr/>
          <p:nvPr/>
        </p:nvSpPr>
        <p:spPr>
          <a:xfrm>
            <a:off x="36576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TECHNICAL ARCHITECTURE</a:t>
            </a:r>
            <a:endParaRPr lang="en-US" sz="7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665030-9E29-440C-A1D6-6D823203143A}"/>
              </a:ext>
            </a:extLst>
          </p:cNvPr>
          <p:cNvSpPr/>
          <p:nvPr/>
        </p:nvSpPr>
        <p:spPr>
          <a:xfrm>
            <a:off x="365760" y="4754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Under the Hood </a:t>
            </a:r>
            <a:endParaRPr lang="en-US" sz="20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55ECA3E-CC5D-D50D-7772-02E80E8108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7955280" y="137160"/>
            <a:ext cx="822960" cy="82296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F4D7EB-1F9E-809B-F6F7-0ADCD8299E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10497" r="834"/>
          <a:stretch>
            <a:fillRect/>
          </a:stretch>
        </p:blipFill>
        <p:spPr>
          <a:xfrm>
            <a:off x="0" y="1024128"/>
            <a:ext cx="9067800" cy="411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99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37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REQUIREMENTS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Functional Requirements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44168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40817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Multi-role login: Student, Teacher, Admin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792224"/>
            <a:ext cx="4114800" cy="448056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85623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81965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Safety certification quiz per tier (4 tiers)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230428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26771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Virtual experiment execution with AI step guidance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4114800" cy="448056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275234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71576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AR experiment mode via device camera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136392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" y="32004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16382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Real-time AI scoring across 6 performance dimensions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584448"/>
            <a:ext cx="4114800" cy="448056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364845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361188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XP system, badges, leaderboards &amp; missions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032504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409651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405993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AI-generated readiness report for teachers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480560"/>
            <a:ext cx="4114800" cy="448056"/>
          </a:xfrm>
          <a:prstGeom prst="rect">
            <a:avLst/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7472" y="454456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450799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Push notifications via Firebase Cloud Messaging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9601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Non-Functional Requirements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1344168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28032" y="140817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66360" y="13716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Performance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73952" y="1371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AI response &lt; 2s; 99.5% uptime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1792224"/>
            <a:ext cx="4114800" cy="448056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28032" y="185623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66360" y="18196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Security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73952" y="181965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JWT auth, HTTPS, encrypted 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240280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28032" y="230428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66360" y="22677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Scalability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73952" y="22677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Cloud deployment (AWS EC2)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688336"/>
            <a:ext cx="4114800" cy="448056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28032" y="275234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166360" y="27157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Usability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73952" y="271576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HCI-compliant, child-friendly UI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3136392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828032" y="320040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166360" y="316382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Compatibility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73952" y="316382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Chrome 90+, Android 7+, iOS 11+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54880" y="3584448"/>
            <a:ext cx="4114800" cy="448056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828032" y="364845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166360" y="361188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Reliability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73952" y="36118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Redis caching, queue-based jobs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4032504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828032" y="409651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166360" y="40599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Accessibility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73952" y="405993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WCAG-aligned, works on 3G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54880" y="4480560"/>
            <a:ext cx="4114800" cy="448056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828032" y="454456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166360" y="45079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Maintainability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73952" y="450799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Modular Laravel + React codebase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-182880"/>
            <a:ext cx="1463040" cy="146304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645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FFFFFF"/>
                </a:solidFill>
              </a:rPr>
              <a:t>TECH STACK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4754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Technologies &amp; Tools Used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</a:rPr>
              <a:t>Every technology chosen for a specific reason — optimised for Pakistani school deployments: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" y="1417320"/>
            <a:ext cx="2011680" cy="1664208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41732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" y="150876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Laravel (PHP)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" y="2350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Backend REST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" y="2560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Native shared hosting in Pakistan — minimal server cost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14016" y="1417320"/>
            <a:ext cx="2011680" cy="1664208"/>
          </a:xfrm>
          <a:prstGeom prst="rect">
            <a:avLst/>
          </a:prstGeom>
          <a:solidFill>
            <a:srgbClr val="E8F4FD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14016" y="141732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05456" y="15087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05456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05456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Flutter + Dart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05456" y="2350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05456" y="2560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Single codebase → Android + iOS; mature ARCore/ARKit plugin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05762" y="1417320"/>
            <a:ext cx="2011680" cy="1664208"/>
          </a:xfrm>
          <a:prstGeom prst="rect">
            <a:avLst/>
          </a:prstGeom>
          <a:solidFill>
            <a:srgbClr val="FFF9C4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26864" y="1417320"/>
            <a:ext cx="20116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18304" y="150876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18304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18304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React.js + Next.js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18304" y="2350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Web Frontend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18304" y="2560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SSR for fast load; huge ecosystem for rapid UI development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39712" y="1417320"/>
            <a:ext cx="2011680" cy="1664208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9712" y="1417320"/>
            <a:ext cx="20116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31152" y="150876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3115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31152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Gemini API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23500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AI Guidance &amp; Reports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31152" y="25603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State-of-the-art LLM; no model training or hosting required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01168" y="3246120"/>
            <a:ext cx="2011680" cy="1664208"/>
          </a:xfrm>
          <a:prstGeom prst="rect">
            <a:avLst/>
          </a:prstGeom>
          <a:solidFill>
            <a:srgbClr val="C8F7E4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01168" y="32461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92608" y="33375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2608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92608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MySQL + Redis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92608" y="4178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Database &amp; Cache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92608" y="4389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ACID relational storage + sub-ms leaderboard caching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14016" y="3246120"/>
            <a:ext cx="2011680" cy="166420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414016" y="324612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505456" y="333756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505456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505456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ARCore + ARKit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505456" y="4178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Augmented Reality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505456" y="4389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Proven production AR on mid-range phones; no specialist hardware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26864" y="3246120"/>
            <a:ext cx="2011680" cy="1664208"/>
          </a:xfrm>
          <a:prstGeom prst="rect">
            <a:avLst/>
          </a:prstGeom>
          <a:solidFill>
            <a:srgbClr val="FFFBEB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626864" y="3246120"/>
            <a:ext cx="20116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718304" y="3337560"/>
            <a:ext cx="502920" cy="5029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18304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718304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ElevenLabs API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718304" y="4178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Avatar Voice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718304" y="4389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Most natural AI voice synthesis for avatar experience quality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39712" y="3246120"/>
            <a:ext cx="2011680" cy="1664208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839712" y="324612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931152" y="33375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931152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931152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AWS S3 + Cloudflare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931152" y="4178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Storage &amp; CDN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931152" y="4389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Global fast asset delivery for students in all geographic zones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1828800"/>
            <a:ext cx="1828800" cy="1828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BBF24">
              <a:alpha val="10000"/>
            </a:srgbClr>
          </a:solidFill>
          <a:ln w="12700">
            <a:solidFill>
              <a:srgbClr val="FBBF2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4114800"/>
            <a:ext cx="1097280" cy="109728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82880"/>
            <a:ext cx="2286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FFFFF">
                    <a:alpha val="10000"/>
                  </a:srgbClr>
                </a:solidFill>
              </a:rPr>
              <a:t>?</a:t>
            </a:r>
            <a:endParaRPr lang="en-US" sz="20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217920" y="548640"/>
            <a:ext cx="1828800" cy="18288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223760" y="2560320"/>
            <a:ext cx="1645920" cy="1645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31652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12" name="Shape 8"/>
          <p:cNvSpPr/>
          <p:nvPr/>
        </p:nvSpPr>
        <p:spPr>
          <a:xfrm>
            <a:off x="548640" y="1459524"/>
            <a:ext cx="36576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48640" y="15966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4D399"/>
                </a:solidFill>
              </a:rPr>
              <a:t>Beaker Breakers Studio – Redefining Virtual Scientific Exploration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2191044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0080" y="221847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Safe, cost-free virtual experimentation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767116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0080" y="279454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🎮  Gamified learning with real certificates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343188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40080" y="33706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🌐  Accessible to any student, anywhere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391926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40080" y="394669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🚀  Ready for AR &amp; mobile expansion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65760" y="4663440"/>
            <a:ext cx="84124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48640" y="46725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Prepared by: </a:t>
            </a:r>
            <a:r>
              <a:rPr lang="en-US" sz="1100" b="1" dirty="0">
                <a:solidFill>
                  <a:srgbClr val="1E3A5F"/>
                </a:solidFill>
              </a:rPr>
              <a:t>Syed Mohsin Abbas &amp; Rabail Butt</a:t>
            </a:r>
            <a:r>
              <a:rPr lang="en-US" sz="1000" dirty="0">
                <a:solidFill>
                  <a:srgbClr val="94A3B8"/>
                </a:solidFill>
              </a:rPr>
              <a:t>   |   Final Year Project – Computer Science   |  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3890</TotalTime>
  <Words>1134</Words>
  <Application>Microsoft Office PowerPoint</Application>
  <PresentationFormat>On-screen Show (16:9)</PresentationFormat>
  <Paragraphs>259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Beaker Breakers Studio – FYP</dc:title>
  <dc:subject>PptxGenJS Presentation</dc:subject>
  <dc:creator>Rabail Butt</dc:creator>
  <cp:lastModifiedBy>Syed Mohsin Abbas</cp:lastModifiedBy>
  <cp:revision>13</cp:revision>
  <dcterms:created xsi:type="dcterms:W3CDTF">2026-04-23T09:08:24Z</dcterms:created>
  <dcterms:modified xsi:type="dcterms:W3CDTF">2026-04-27T05:53:52Z</dcterms:modified>
</cp:coreProperties>
</file>